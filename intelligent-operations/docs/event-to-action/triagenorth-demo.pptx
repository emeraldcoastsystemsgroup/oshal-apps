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7F88"/>
                </a:solidFill>
                <a:latin typeface="DejaVu Sans"/>
              </a:defRPr>
            </a:pPr>
            <a:r>
              <a:t>TRIAGENORTH  /  SIGNALS → EVIDENCE →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4233B"/>
                </a:solidFill>
                <a:latin typeface="DejaVu Sans"/>
              </a:defRPr>
            </a:pPr>
            <a:r>
              <a:t>Every incident deserves its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76B83"/>
                </a:solidFill>
                <a:latin typeface="DejaVu Sans"/>
              </a:defRPr>
            </a:pPr>
            <a:r>
              <a:t>TriageNorth is an intelligent operations experience for mixed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76B83"/>
                </a:solidFill>
                <a:latin typeface="DejaVu Sans"/>
              </a:defRPr>
            </a:pPr>
            <a:r>
              <a:t>21 OCT 2026  ·  Demonstrated behavior and planned work are identified separately  ·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4233B"/>
                </a:solidFill>
                <a:latin typeface="DejaVu Sans"/>
              </a:defRPr>
            </a:pPr>
            <a:r>
              <a:t>Turn a flood of signals into a small set of explainable incidents—with the context needed to 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5303520" cy="164592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4343400"/>
            <a:ext cx="49377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The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937759"/>
            <a:ext cx="493775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Named sources, noise reduction, dependency context and controlled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5303520" cy="1645920"/>
          </a:xfrm>
          <a:prstGeom prst="roundRect">
            <a:avLst/>
          </a:prstGeom>
          <a:solidFill>
            <a:srgbClr val="F3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43400"/>
            <a:ext cx="49377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The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937759"/>
            <a:ext cx="493775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An independently installed OSHAL container supplies identity, connections, tickets, workflows and workspaces.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7F88"/>
                </a:solidFill>
                <a:latin typeface="DejaVu Sans"/>
              </a:defRPr>
            </a:pPr>
            <a:r>
              <a:t>TRIAGENORTH  /  SIGNALS → EVIDENCE →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4233B"/>
                </a:solidFill>
                <a:latin typeface="DejaVu Sans"/>
              </a:defRPr>
            </a:pPr>
            <a:r>
              <a:t>The problem is the gap between alert and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76B83"/>
                </a:solidFill>
                <a:latin typeface="DejaVu Sans"/>
              </a:defRPr>
            </a:pPr>
            <a:r>
              <a:t>An isolated alarm rarely explains the system that failed.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76B83"/>
                </a:solidFill>
                <a:latin typeface="DejaVu Sans"/>
              </a:defRPr>
            </a:pPr>
            <a:r>
              <a:t>21 OCT 2026  ·  Demonstrated behavior and planned work are identified separately  ·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200400" cy="3200400"/>
          </a:xfrm>
          <a:prstGeom prst="roundRect">
            <a:avLst/>
          </a:prstGeom>
          <a:solidFill>
            <a:srgbClr val="F3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Too much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83464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Repeated symptoms compete with genuinely new issues.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468880"/>
            <a:ext cx="3200400" cy="3200400"/>
          </a:xfrm>
          <a:prstGeom prst="roundRect">
            <a:avLst/>
          </a:prstGeom>
          <a:solidFill>
            <a:srgbClr val="F3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606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Vanishing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83464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Pods disappear, logs roll and the original failure window is lost.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468880"/>
            <a:ext cx="3200400" cy="3200400"/>
          </a:xfrm>
          <a:prstGeom prst="roundRect">
            <a:avLst/>
          </a:prstGeom>
          <a:solidFill>
            <a:srgbClr val="F3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2606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Unclear 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3200400"/>
            <a:ext cx="283464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Evidence, generated proposals and permission to execute need distinct boundaries.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7F88"/>
                </a:solidFill>
                <a:latin typeface="DejaVu Sans"/>
              </a:defRPr>
            </a:pPr>
            <a:r>
              <a:t>TRIAGENORTH  /  SIGNALS → EVIDENCE →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4233B"/>
                </a:solidFill>
                <a:latin typeface="DejaVu Sans"/>
              </a:defRPr>
            </a:pPr>
            <a:r>
              <a:t>One path from infrastructure to an accountable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76B83"/>
                </a:solidFill>
                <a:latin typeface="DejaVu Sans"/>
              </a:defRPr>
            </a:pPr>
            <a:r>
              <a:t>The application reuses shared platform controls rather than holding broad cluster credentials.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76B83"/>
                </a:solidFill>
                <a:latin typeface="DejaVu Sans"/>
              </a:defRPr>
            </a:pPr>
            <a:r>
              <a:t>21 OCT 2026  ·  Demonstrated behavior and planned work are identified separately  ·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2697480" cy="224028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Hosts / cloud / containers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OTLP / CloudWatch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468880"/>
            <a:ext cx="2697480" cy="224028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6060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0040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Stored queries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Suppress repeated symptoms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468880"/>
            <a:ext cx="2697480" cy="224028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6060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0040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Dependency paths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Three telemetry banks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468880"/>
            <a:ext cx="2697480" cy="224028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26060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0040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Bounded durable packet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Source / time / hashes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4233B"/>
                </a:solidFill>
                <a:latin typeface="DejaVu Sans"/>
              </a:defRPr>
            </a:pPr>
            <a:r>
              <a:t>Next boundary: canonical investigation workflow → generated deliverables → exact-action approval → recovery verification.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576B83"/>
                </a:solidFill>
                <a:latin typeface="DejaVu Sans"/>
              </a:defRPr>
            </a:pPr>
            <a:r>
              <a:t>The replay demonstrates filtering through persistent evidence. Full unattended remediation is not claimed.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7F88"/>
                </a:solidFill>
                <a:latin typeface="DejaVu Sans"/>
              </a:defRPr>
            </a:pPr>
            <a:r>
              <a:t>TRIAGENORTH  /  SIGNALS → EVIDENCE →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4233B"/>
                </a:solidFill>
                <a:latin typeface="DejaVu Sans"/>
              </a:defRPr>
            </a:pPr>
            <a:r>
              <a:t>A failure crosses the datacenter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76B83"/>
                </a:solidFill>
                <a:latin typeface="DejaVu Sans"/>
              </a:defRPr>
            </a:pPr>
            <a:r>
              <a:t>Synthetic scenario, actual native Kubernetes services: datacenter host → cloud database → network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76B83"/>
                </a:solidFill>
                <a:latin typeface="DejaVu Sans"/>
              </a:defRPr>
            </a:pPr>
            <a:r>
              <a:t>21 OCT 2026  ·  Demonstrated behavior and planned work are identified separately  ·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2651760" cy="18288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Occurrences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2860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468880"/>
            <a:ext cx="2651760" cy="18288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Rule matches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200400"/>
            <a:ext cx="22860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68880"/>
            <a:ext cx="2651760" cy="18288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Symptoms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00400"/>
            <a:ext cx="22860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468880"/>
            <a:ext cx="2651760" cy="18288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6060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Incident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200400"/>
            <a:ext cx="22860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4233B"/>
                </a:solidFill>
                <a:latin typeface="DejaVu Sans"/>
              </a:defRPr>
            </a:pPr>
            <a:r>
              <a:t>60 routine occurrences filtered. 36 repeated symptoms suppressed. 4 persistent context packets.</a:t>
            </a:r>
          </a:p>
          <a:p>
            <a:pPr>
              <a:spcAft>
                <a:spcPts val="400"/>
              </a:spcAft>
              <a:defRPr sz="2100" b="1">
                <a:solidFill>
                  <a:srgbClr val="14233B"/>
                </a:solidFill>
                <a:latin typeface="DejaVu Sans"/>
              </a:defRPr>
            </a:pPr>
            <a:r>
              <a:t>An independent disk-pressure host stays in a separate incident 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7F88"/>
                </a:solidFill>
                <a:latin typeface="DejaVu Sans"/>
              </a:defRPr>
            </a:pPr>
            <a:r>
              <a:t>TRIAGENORTH  /  SIGNALS → EVIDENCE →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4233B"/>
                </a:solidFill>
                <a:latin typeface="DejaVu Sans"/>
              </a:defRPr>
            </a:pPr>
            <a:r>
              <a:t>Keep the first fifteen minutes available.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76B83"/>
                </a:solidFill>
                <a:latin typeface="DejaVu Sans"/>
              </a:defRPr>
            </a:pPr>
            <a:r>
              <a:t>A → B → C → A, with protected context before safe reuse.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76B83"/>
                </a:solidFill>
                <a:latin typeface="DejaVu Sans"/>
              </a:defRPr>
            </a:pPr>
            <a:r>
              <a:t>21 OCT 2026  ·  Demonstrated behavior and planned work are identified separately  ·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3474720" cy="201168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A  /  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4680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Bounded byte and record budget</a:t>
            </a:r>
          </a:p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Grow within an approved ceiling</a:t>
            </a:r>
          </a:p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Keep original provenance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23160"/>
            <a:ext cx="3474720" cy="201168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B  /  retained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54680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Bounded byte and record budget</a:t>
            </a:r>
          </a:p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Grow within an approved ceiling</a:t>
            </a:r>
          </a:p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Keep original provenance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423160"/>
            <a:ext cx="3474720" cy="201168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C  /  retained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3154680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Bounded byte and record budget</a:t>
            </a:r>
          </a:p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Grow within an approved ceiling</a:t>
            </a:r>
          </a:p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Keep original provenance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4233B"/>
                </a:solidFill>
                <a:latin typeface="DejaVu Sans"/>
              </a:defRPr>
            </a:pPr>
            <a:r>
              <a:t>Never erase a bank whose newest receipt is younger than 900 seconds. At the ceiling, retry the whole batch. Pin incident evidence outside the 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576B83"/>
                </a:solidFill>
                <a:latin typeface="DejaVu Sans"/>
              </a:defRPr>
            </a:pPr>
            <a:r>
              <a:t>Three logical data banks reuse the application store; physical database/PVC autoscaling is separate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7F88"/>
                </a:solidFill>
                <a:latin typeface="DejaVu Sans"/>
              </a:defRPr>
            </a:pPr>
            <a:r>
              <a:t>TRIAGENORTH  /  SIGNALS → EVIDENCE →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4233B"/>
                </a:solidFill>
                <a:latin typeface="DejaVu Sans"/>
              </a:defRPr>
            </a:pPr>
            <a:r>
              <a:t>Real data keeps the claims honest.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76B83"/>
                </a:solidFill>
                <a:latin typeface="DejaVu Sans"/>
              </a:defRPr>
            </a:pPr>
            <a:r>
              <a:t>Recorded BGL sample: 2,000 HPC log lines; labels withheld from the severity-only query.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76B83"/>
                </a:solidFill>
                <a:latin typeface="DejaVu Sans"/>
              </a:defRPr>
            </a:pPr>
            <a:r>
              <a:t>21 OCT 2026  ·  Demonstrated behavior and planned work are identified separately  ·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3474720" cy="1828800"/>
          </a:xfrm>
          <a:prstGeom prst="roundRect">
            <a:avLst/>
          </a:prstGeom>
          <a:solidFill>
            <a:srgbClr val="F3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468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35.5%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260 false positives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423160"/>
            <a:ext cx="3474720" cy="1828800"/>
          </a:xfrm>
          <a:prstGeom prst="roundRect">
            <a:avLst/>
          </a:prstGeom>
          <a:solidFill>
            <a:srgbClr val="F3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100.0%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0 labeled alerts missed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423160"/>
            <a:ext cx="3200400" cy="1828800"/>
          </a:xfrm>
          <a:prstGeom prst="roundRect">
            <a:avLst/>
          </a:prstGeom>
          <a:solidFill>
            <a:srgbClr val="F3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25603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154680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403 matches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74 repeated occurrences suppressed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4233B"/>
                </a:solidFill>
                <a:latin typeface="DejaVu Sans"/>
              </a:defRPr>
            </a:pPr>
            <a:r>
              <a:t>A severity label alone is a poor incident decision. This measured baseline gives us a target for better rules, temporal context and anomaly evaluation.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76B83"/>
                </a:solidFill>
                <a:latin typeface="DejaVu Sans"/>
              </a:defRPr>
            </a:pPr>
            <a:r>
              <a:t>Loghub research samples remain outside the product bundle. This is not a trained anomaly detector or root-cause accuracy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7F88"/>
                </a:solidFill>
                <a:latin typeface="DejaVu Sans"/>
              </a:defRPr>
            </a:pPr>
            <a:r>
              <a:t>TRIAGENORTH  /  SIGNALS → EVIDENCE →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4233B"/>
                </a:solidFill>
                <a:latin typeface="DejaVu Sans"/>
              </a:defRPr>
            </a:pPr>
            <a:r>
              <a:t>A demo you can inspect, not just watch.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76B83"/>
                </a:solidFill>
                <a:latin typeface="DejaVu Sans"/>
              </a:defRPr>
            </a:pPr>
            <a:r>
              <a:t>Each stage shows its sources, actual decisions and retained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76B83"/>
                </a:solidFill>
                <a:latin typeface="DejaVu Sans"/>
              </a:defRPr>
            </a:pPr>
            <a:r>
              <a:t>21 OCT 2026  ·  Demonstrated behavior and planned work are identified separately  ·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474720" cy="27432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Scenario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00400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Run the host/cloud scenario and inspect the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68880"/>
            <a:ext cx="3474720" cy="27432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Live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00400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Inspect all three bank generations and their budgets.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468880"/>
            <a:ext cx="3474720" cy="27432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Data &amp; topology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3200400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Trace filter decisions, symptom keys and dependency paths.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4233B"/>
                </a:solidFill>
                <a:latin typeface="DejaVu Sans"/>
              </a:defRPr>
            </a:pPr>
            <a:r>
              <a:t>Login and grants belong to the signed-in user. The investigation receives a preprocessed packet, not unrestricted infrastructure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7F88"/>
                </a:solidFill>
                <a:latin typeface="DejaVu Sans"/>
              </a:defRPr>
            </a:pPr>
            <a:r>
              <a:t>TRIAGENORTH  /  SIGNALS → EVIDENCE →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4233B"/>
                </a:solidFill>
                <a:latin typeface="DejaVu Sans"/>
              </a:defRPr>
            </a:pPr>
            <a:r>
              <a:t>Explore the estate. Follow the real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76B83"/>
                </a:solidFill>
                <a:latin typeface="DejaVu Sans"/>
              </a:defRPr>
            </a:pPr>
            <a:r>
              <a:t>Real monitoring from a synthetic workload; three analysis phases await human report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76B83"/>
                </a:solidFill>
                <a:latin typeface="DejaVu Sans"/>
              </a:defRPr>
            </a:pPr>
            <a:r>
              <a:t>21 OCT 2026  ·  Demonstrated behavior and planned work are identified separately  ·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3474720" cy="27432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Six graph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4680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Perspective depth + orbit/pan/zoom.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Recorded dependencies, impact and placement.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Keyboard selection and phone layout.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23160"/>
            <a:ext cx="3474720" cy="27432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Inspect each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54680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334D"/>
                </a:solidFill>
                <a:latin typeface="DejaVu Sans"/>
              </a:defRPr>
            </a:pPr>
            <a:r>
              <a:t>Named investigate / review / revise bots.</a:t>
            </a:r>
          </a:p>
          <a:p>
            <a:pPr>
              <a:spcAft>
                <a:spcPts val="400"/>
              </a:spcAft>
              <a:defRPr sz="1400" b="0">
                <a:solidFill>
                  <a:srgbClr val="20334D"/>
                </a:solidFill>
                <a:latin typeface="DejaVu Sans"/>
              </a:defRPr>
            </a:pPr>
            <a:r>
              <a:t>Exact admitted packet and prior reports.</a:t>
            </a:r>
          </a:p>
          <a:p>
            <a:pPr>
              <a:spcAft>
                <a:spcPts val="400"/>
              </a:spcAft>
              <a:defRPr sz="1400" b="0">
                <a:solidFill>
                  <a:srgbClr val="20334D"/>
                </a:solidFill>
                <a:latin typeface="DejaVu Sans"/>
              </a:defRPr>
            </a:pPr>
            <a:r>
              <a:t>Evidence citations + proposed diagnostics.</a:t>
            </a:r>
          </a:p>
          <a:p>
            <a:pPr>
              <a:spcAft>
                <a:spcPts val="400"/>
              </a:spcAft>
              <a:defRPr sz="1400" b="0">
                <a:solidFill>
                  <a:srgbClr val="20334D"/>
                </a:solidFill>
                <a:latin typeface="DejaVu Sans"/>
              </a:defRPr>
            </a:pPr>
            <a:r>
              <a:t>Current position in graphical Studio.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423160"/>
            <a:ext cx="3108960" cy="27432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2560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7F88"/>
                </a:solidFill>
                <a:latin typeface="DejaVu Sans"/>
              </a:defRPr>
            </a:pPr>
            <a:r>
              <a:t>Review work and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3154680"/>
            <a:ext cx="274320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Three shared reports, byte/hash checked.</a:t>
            </a:r>
          </a:p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39,166 measured tokens.</a:t>
            </a:r>
          </a:p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$0.050048 reference estimate.</a:t>
            </a:r>
          </a:p>
          <a:p>
            <a:pPr>
              <a:spcAft>
                <a:spcPts val="400"/>
              </a:spcAft>
              <a:defRPr sz="1500" b="0">
                <a:solidFill>
                  <a:srgbClr val="20334D"/>
                </a:solidFill>
                <a:latin typeface="DejaVu Sans"/>
              </a:defRPr>
            </a:pPr>
            <a:r>
              <a:t>$0 recorded spend; reference is not billed cost.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576B83"/>
                </a:solidFill>
                <a:latin typeface="DejaVu Sans"/>
              </a:defRPr>
            </a:pPr>
            <a:r>
              <a:t>Reports and observed correlation do not establish infrastructure recovery. Generated executable remediation and external status synchronization remain delivery gates.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7F88"/>
                </a:solidFill>
                <a:latin typeface="DejaVu Sans"/>
              </a:defRPr>
            </a:pPr>
            <a:r>
              <a:t>TRIAGENORTH  /  SIGNALS → EVIDENCE →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4233B"/>
                </a:solidFill>
                <a:latin typeface="DejaVu Sans"/>
              </a:defRPr>
            </a:pPr>
            <a:r>
              <a:t>Connect accountable work to an existing issue.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76B83"/>
                </a:solidFill>
                <a:latin typeface="DejaVu Sans"/>
              </a:defRPr>
            </a:pPr>
            <a:r>
              <a:t>Development-installed services; full release certification and live Jira account validation remain open.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76B83"/>
                </a:solidFill>
                <a:latin typeface="DejaVu Sans"/>
              </a:defRPr>
            </a:pPr>
            <a:r>
              <a:t>21 OCT 2026  ·  Demonstrated behavior and planned work are identified separately  ·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3474720" cy="27432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7F88"/>
                </a:solidFill>
                <a:latin typeface="DejaVu Sans"/>
              </a:defRPr>
            </a:pPr>
            <a:r>
              <a:t>Review an exact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4680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Owned workflow revision + phase.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Personal named account.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Explicit Jira / GitLab / ServiceNow state mapping.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23160"/>
            <a:ext cx="3474720" cy="27432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Confirm one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54680"/>
            <a:ext cx="31089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Reserve before dispatch.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Use shared native connector Actions.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Read state before and after.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Hold uncertain responses.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423160"/>
            <a:ext cx="3108960" cy="2743200"/>
          </a:xfrm>
          <a:prstGeom prst="roundRect">
            <a:avLst/>
          </a:prstGeom>
          <a:solidFill>
            <a:srgbClr val="E8F7F4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2560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7F88"/>
                </a:solidFill>
                <a:latin typeface="DejaVu Sans"/>
              </a:defRPr>
            </a:pPr>
            <a:r>
              <a:t>Notify through shared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3154680"/>
            <a:ext cx="274320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0334D"/>
                </a:solidFill>
                <a:latin typeface="DejaVu Sans"/>
              </a:defRPr>
            </a:pPr>
            <a:r>
              <a:t>SMS / brief phone / Telegram.</a:t>
            </a:r>
          </a:p>
          <a:p>
            <a:pPr>
              <a:spcAft>
                <a:spcPts val="400"/>
              </a:spcAft>
              <a:defRPr sz="1400" b="0">
                <a:solidFill>
                  <a:srgbClr val="20334D"/>
                </a:solidFill>
                <a:latin typeface="DejaVu Sans"/>
              </a:defRPr>
            </a:pPr>
            <a:r>
              <a:t>Three approved tests accepted once.</a:t>
            </a:r>
          </a:p>
          <a:p>
            <a:pPr>
              <a:spcAft>
                <a:spcPts val="400"/>
              </a:spcAft>
              <a:defRPr sz="1400" b="0">
                <a:solidFill>
                  <a:srgbClr val="20334D"/>
                </a:solidFill>
                <a:latin typeface="DejaVu Sans"/>
              </a:defRPr>
            </a:pPr>
            <a:r>
              <a:t>All test topics muted.</a:t>
            </a:r>
          </a:p>
          <a:p>
            <a:pPr>
              <a:spcAft>
                <a:spcPts val="400"/>
              </a:spcAft>
              <a:defRPr sz="1400" b="0">
                <a:solidFill>
                  <a:srgbClr val="20334D"/>
                </a:solidFill>
                <a:latin typeface="DejaVu Sans"/>
              </a:defRPr>
            </a:pPr>
            <a:r>
              <a:t>Operator confirmed the call.</a:t>
            </a:r>
          </a:p>
          <a:p>
            <a:pPr>
              <a:spcAft>
                <a:spcPts val="400"/>
              </a:spcAft>
              <a:defRPr sz="1400" b="0">
                <a:solidFill>
                  <a:srgbClr val="20334D"/>
                </a:solidFill>
                <a:latin typeface="DejaVu Sans"/>
              </a:defRPr>
            </a:pPr>
            <a:r>
              <a:t>SMS blocked: Twilio30034.</a:t>
            </a:r>
          </a:p>
          <a:p>
            <a:pPr>
              <a:spcAft>
                <a:spcPts val="400"/>
              </a:spcAft>
              <a:defRPr sz="1400" b="0">
                <a:solidFill>
                  <a:srgbClr val="20334D"/>
                </a:solidFill>
                <a:latin typeface="DejaVu Sans"/>
              </a:defRPr>
            </a:pPr>
            <a:r>
              <a:t>Telegram receipt unverified.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576B83"/>
                </a:solidFill>
                <a:latin typeface="DejaVu Sans"/>
              </a:defRPr>
            </a:pPr>
            <a:r>
              <a:t>Automatic two-way sync, verified webhooks and infrastructure recovery remain delivery gates. The acceptance runner never repeats an attempted test send.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07F88"/>
                </a:solidFill>
                <a:latin typeface="DejaVu Sans"/>
              </a:defRPr>
            </a:pPr>
            <a:r>
              <a:t>TRIAGENORTH  /  SIGNALS → EVIDENCE →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4233B"/>
                </a:solidFill>
                <a:latin typeface="DejaVu Sans"/>
              </a:defRPr>
            </a:pPr>
            <a:r>
              <a:t>The next three weeks focus on function and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576B83"/>
                </a:solidFill>
                <a:latin typeface="DejaVu Sans"/>
              </a:defRPr>
            </a:pPr>
            <a:r>
              <a:t>Build on the demonstrated source-to-context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576B83"/>
                </a:solidFill>
                <a:latin typeface="DejaVu Sans"/>
              </a:defRPr>
            </a:pPr>
            <a:r>
              <a:t>21 OCT 2026  ·  Demonstrated behavior and planned work are identified separately  ·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474720" cy="3017520"/>
          </a:xfrm>
          <a:prstGeom prst="roundRect">
            <a:avLst/>
          </a:prstGeom>
          <a:solidFill>
            <a:srgbClr val="F3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Evaluate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00400"/>
            <a:ext cx="3108960" cy="2240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Replay recorded host and cloud metrics.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Calibrate anomalies on time-separated data.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Keep failures and false alerts visible.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68880"/>
            <a:ext cx="3474720" cy="3017520"/>
          </a:xfrm>
          <a:prstGeom prst="roundRect">
            <a:avLst/>
          </a:prstGeom>
          <a:solidFill>
            <a:srgbClr val="F3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07F88"/>
                </a:solidFill>
                <a:latin typeface="DejaVu Sans"/>
              </a:defRPr>
            </a:pPr>
            <a:r>
              <a:t>Complete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00400"/>
            <a:ext cx="3108960" cy="2240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Continuous delegated producers.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Automatic evidence-to-workflow dispatch.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Generated scripts, exact approvals and failed-recovery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468880"/>
            <a:ext cx="3108960" cy="3017520"/>
          </a:xfrm>
          <a:prstGeom prst="roundRect">
            <a:avLst/>
          </a:prstGeom>
          <a:solidFill>
            <a:srgbClr val="F3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59" y="2606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7F88"/>
                </a:solidFill>
                <a:latin typeface="DejaVu Sans"/>
              </a:defRPr>
            </a:pPr>
            <a:r>
              <a:t>Expand environments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3200400"/>
            <a:ext cx="2743200" cy="2240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External ticket synchronization.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Read-only AWS / Azure / GCP discovery.</a:t>
            </a:r>
          </a:p>
          <a:p>
            <a:pPr>
              <a:spcAft>
                <a:spcPts val="400"/>
              </a:spcAft>
              <a:defRPr sz="1600" b="0">
                <a:solidFill>
                  <a:srgbClr val="20334D"/>
                </a:solidFill>
                <a:latin typeface="DejaVu Sans"/>
              </a:defRPr>
            </a:pPr>
            <a:r>
              <a:t>Educational cloud environments after the product path is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